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788b69263946f9" /><Relationship Type="http://schemas.openxmlformats.org/officeDocument/2006/relationships/extended-properties" Target="/docProps/app.xml" Id="R9293d643b7894302" /><Relationship Type="http://schemas.openxmlformats.org/officeDocument/2006/relationships/officeDocument" Target="/ppt/presentation.xml" Id="R0630ebeb47c24b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52160610a4a25"/>
  </p:sldMasterIdLst>
  <p:notesMasterIdLst>
    <p:notesMasterId xmlns:r="http://schemas.openxmlformats.org/officeDocument/2006/relationships" r:id="R701c307e54d74ed5"/>
  </p:notesMasterIdLst>
  <p:sldIdLst>
    <p:sldId xmlns:r="http://schemas.openxmlformats.org/officeDocument/2006/relationships" id="256" r:id="Re00366e7b1624b83"/>
    <p:sldId xmlns:r="http://schemas.openxmlformats.org/officeDocument/2006/relationships" id="257" r:id="Ra7930192bf22443d"/>
    <p:sldId xmlns:r="http://schemas.openxmlformats.org/officeDocument/2006/relationships" id="258" r:id="R24b0ab69e508402e"/>
    <p:sldId xmlns:r="http://schemas.openxmlformats.org/officeDocument/2006/relationships" id="259" r:id="Rbac99a097d66456d"/>
    <p:sldId xmlns:r="http://schemas.openxmlformats.org/officeDocument/2006/relationships" id="260" r:id="R16501db068594202"/>
    <p:sldId xmlns:r="http://schemas.openxmlformats.org/officeDocument/2006/relationships" id="261" r:id="R4326ceff62ce4805"/>
    <p:sldId xmlns:r="http://schemas.openxmlformats.org/officeDocument/2006/relationships" id="262" r:id="Rac7b53d5c81d4c36"/>
    <p:sldId xmlns:r="http://schemas.openxmlformats.org/officeDocument/2006/relationships" id="263" r:id="Rfb5465f06afb429c"/>
    <p:sldId xmlns:r="http://schemas.openxmlformats.org/officeDocument/2006/relationships" id="264" r:id="Rc48df9c887a14488"/>
    <p:sldId xmlns:r="http://schemas.openxmlformats.org/officeDocument/2006/relationships" id="265" r:id="Rf7b3ba902db943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52160610a4a25" /><Relationship Type="http://schemas.openxmlformats.org/officeDocument/2006/relationships/theme" Target="/ppt/theme/theme1.xml" Id="R4cab96b592f14fda" /><Relationship Type="http://schemas.openxmlformats.org/officeDocument/2006/relationships/notesMaster" Target="/ppt/notesMasters/notesMaster1.xml" Id="R701c307e54d74ed5" /><Relationship Type="http://schemas.openxmlformats.org/officeDocument/2006/relationships/presProps" Target="/ppt/presProps.xml" Id="Reefd7f8e20c5428d" /><Relationship Type="http://schemas.openxmlformats.org/officeDocument/2006/relationships/viewProps" Target="/ppt/viewProps.xml" Id="Rf0820d3ea63346ae" /><Relationship Type="http://schemas.openxmlformats.org/officeDocument/2006/relationships/tableStyles" Target="/ppt/tableStyles.xml" Id="Rdb55711f4af74a56" /><Relationship Type="http://schemas.openxmlformats.org/officeDocument/2006/relationships/slide" Target="/ppt/slides/slide1.xml" Id="Re00366e7b1624b83" /><Relationship Type="http://schemas.openxmlformats.org/officeDocument/2006/relationships/slide" Target="/ppt/slides/slide2.xml" Id="Ra7930192bf22443d" /><Relationship Type="http://schemas.openxmlformats.org/officeDocument/2006/relationships/slide" Target="/ppt/slides/slide3.xml" Id="R24b0ab69e508402e" /><Relationship Type="http://schemas.openxmlformats.org/officeDocument/2006/relationships/slide" Target="/ppt/slides/slide4.xml" Id="Rbac99a097d66456d" /><Relationship Type="http://schemas.openxmlformats.org/officeDocument/2006/relationships/slide" Target="/ppt/slides/slide5.xml" Id="R16501db068594202" /><Relationship Type="http://schemas.openxmlformats.org/officeDocument/2006/relationships/slide" Target="/ppt/slides/slide6.xml" Id="R4326ceff62ce4805" /><Relationship Type="http://schemas.openxmlformats.org/officeDocument/2006/relationships/slide" Target="/ppt/slides/slide7.xml" Id="Rac7b53d5c81d4c36" /><Relationship Type="http://schemas.openxmlformats.org/officeDocument/2006/relationships/slide" Target="/ppt/slides/slide8.xml" Id="Rfb5465f06afb429c" /><Relationship Type="http://schemas.openxmlformats.org/officeDocument/2006/relationships/slide" Target="/ppt/slides/slide9.xml" Id="Rc48df9c887a14488" /><Relationship Type="http://schemas.openxmlformats.org/officeDocument/2006/relationships/slide" Target="/ppt/slides/slide10.xml" Id="Rf7b3ba902db943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eff7e5820a43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d97ce0f14e4ac5" /><Relationship Type="http://schemas.openxmlformats.org/officeDocument/2006/relationships/notesMaster" Target="/ppt/notesMasters/notesMaster1.xml" Id="R63eec78d9e954e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9a96d97da4bf2" /><Relationship Type="http://schemas.openxmlformats.org/officeDocument/2006/relationships/notesMaster" Target="/ppt/notesMasters/notesMaster1.xml" Id="R85c9bb6fa3294a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5db4bec18744cd" /><Relationship Type="http://schemas.openxmlformats.org/officeDocument/2006/relationships/notesMaster" Target="/ppt/notesMasters/notesMaster1.xml" Id="R97be72e65e1d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3480474bfd4801" /><Relationship Type="http://schemas.openxmlformats.org/officeDocument/2006/relationships/notesMaster" Target="/ppt/notesMasters/notesMaster1.xml" Id="R49e9f798bbeb48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29c5d70f34cf0" /><Relationship Type="http://schemas.openxmlformats.org/officeDocument/2006/relationships/notesMaster" Target="/ppt/notesMasters/notesMaster1.xml" Id="Rca8c61931b9f4a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a4a16bf4b14d02" /><Relationship Type="http://schemas.openxmlformats.org/officeDocument/2006/relationships/notesMaster" Target="/ppt/notesMasters/notesMaster1.xml" Id="Re0ebe6468a7d45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fbab628dbf49fe" /><Relationship Type="http://schemas.openxmlformats.org/officeDocument/2006/relationships/notesMaster" Target="/ppt/notesMasters/notesMaster1.xml" Id="Rd059ea309e7040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c01bed64dd45bf" /><Relationship Type="http://schemas.openxmlformats.org/officeDocument/2006/relationships/notesMaster" Target="/ppt/notesMasters/notesMaster1.xml" Id="Rdbcff425d69340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7155875c954c82" /><Relationship Type="http://schemas.openxmlformats.org/officeDocument/2006/relationships/notesMaster" Target="/ppt/notesMasters/notesMaster1.xml" Id="R452bdc4d416d4d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b7d319d042458b" /><Relationship Type="http://schemas.openxmlformats.org/officeDocument/2006/relationships/notesMaster" Target="/ppt/notesMasters/notesMaster1.xml" Id="R526dfc6534ce4c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72822a6ef4ec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05564589d043d7" /><Relationship Type="http://schemas.openxmlformats.org/officeDocument/2006/relationships/slideLayout" Target="/ppt/slideLayouts/slideLayout2.xml" Id="R7864e513710144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64e513710144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47a6773ada4dcc" /><Relationship Type="http://schemas.openxmlformats.org/officeDocument/2006/relationships/notesSlide" Target="/ppt/notesSlides/notesSlide1.xml" Id="R667ede1d920248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7f92446124dc2" /><Relationship Type="http://schemas.openxmlformats.org/officeDocument/2006/relationships/notesSlide" Target="/ppt/notesSlides/notesSlide2.xml" Id="Rce6a25dc38aa47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aed0157a54f27" /><Relationship Type="http://schemas.openxmlformats.org/officeDocument/2006/relationships/notesSlide" Target="/ppt/notesSlides/notesSlide3.xml" Id="Rb3324a6fe46f43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bf6170841f463c" /><Relationship Type="http://schemas.openxmlformats.org/officeDocument/2006/relationships/notesSlide" Target="/ppt/notesSlides/notesSlide4.xml" Id="Rf81cb108365744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fae658d7f46d8" /><Relationship Type="http://schemas.openxmlformats.org/officeDocument/2006/relationships/image" Target="/ppt/media/image.png" Id="Rc3702693a5504a65" /><Relationship Type="http://schemas.openxmlformats.org/officeDocument/2006/relationships/image" Target="/ppt/media/image2.png" Id="R6233743fe8fb4103" /><Relationship Type="http://schemas.openxmlformats.org/officeDocument/2006/relationships/notesSlide" Target="/ppt/notesSlides/notesSlide5.xml" Id="Rf6b31045f08547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e761cf30824d82" /><Relationship Type="http://schemas.openxmlformats.org/officeDocument/2006/relationships/notesSlide" Target="/ppt/notesSlides/notesSlide6.xml" Id="Rb5270972ac7142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5d9dea1f85420b" /><Relationship Type="http://schemas.openxmlformats.org/officeDocument/2006/relationships/notesSlide" Target="/ppt/notesSlides/notesSlide7.xml" Id="R94e1e70789fb42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b89278e9a14ab0" /><Relationship Type="http://schemas.openxmlformats.org/officeDocument/2006/relationships/notesSlide" Target="/ppt/notesSlides/notesSlide8.xml" Id="R33363dbda0d640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a38dcdfe1e487c" /><Relationship Type="http://schemas.openxmlformats.org/officeDocument/2006/relationships/notesSlide" Target="/ppt/notesSlides/notesSlide9.xml" Id="R693e8ecd685f40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cc7c3117249ef" /><Relationship Type="http://schemas.openxmlformats.org/officeDocument/2006/relationships/notesSlide" Target="/ppt/notesSlides/notesSlide10.xml" Id="R3dda7cc1544449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B1561-9219-4186-B2AD-5CE25207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9C1AE-70CD-42E2-BC6C-B43652B6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B2B87-3E1F-4689-9BFE-71AC916F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Theme 12 / AI for 1092-marker">
            <a:extLst xmlns:a="http://schemas.openxmlformats.org/drawingml/2006/main">
              <a:ext uri="{FF2B5EF4-FFF2-40B4-BE49-F238E27FC236}">
                <a16:creationId xmlns:a16="http://schemas.microsoft.com/office/drawing/2014/main" id="{707810E4-6834-4110-A9CD-6B244F5B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Theme 12 / AI for 1092-label">
            <a:extLst xmlns:a="http://schemas.openxmlformats.org/drawingml/2006/main">
              <a:ext uri="{FF2B5EF4-FFF2-40B4-BE49-F238E27FC236}">
                <a16:creationId xmlns:a16="http://schemas.microsoft.com/office/drawing/2014/main" id="{98348724-48D2-422E-88E6-C31CD19F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0E8"/>
                </a:solidFill>
                <a:latin typeface="Aptos"/>
                <a:ea typeface="Aptos"/>
                <a:cs typeface="Aptos"/>
              </a:rPr>
              <a:t>THEME 12 / AI FOR 1092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5665E-0F64-4884-8857-BAD3434C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647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Understand first.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Act only when 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30465-9FBA-4D3A-A7EE-B638263A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7DCEB"/>
                </a:solidFill>
                <a:latin typeface="Aptos"/>
                <a:ea typeface="Aptos"/>
                <a:cs typeface="Aptos"/>
              </a:rPr>
              <a:t>Vani-1092 is a voice-to-voice assistive layer for multilingual citizen calls. It translates distress into verified understanding before a human operator 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8812F-3221-44E3-9335-706F0D3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95350"/>
            <a:ext cx="1981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6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227CB-BEB0-4110-90C9-7B6FDF8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9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F971E-3613-47DD-BC69-022614F8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0287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5BA32-E145-4EE8-BC49-AA8F92B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8112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DCEB"/>
                </a:solidFill>
                <a:latin typeface="Aptos"/>
                <a:ea typeface="Aptos"/>
                <a:cs typeface="Aptos"/>
              </a:rPr>
              <a:t>languages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495E7-9877-45E3-B2A4-2656C365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097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2B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2B2"/>
                </a:solidFill>
                <a:latin typeface="Aptos"/>
                <a:ea typeface="Aptos"/>
                <a:cs typeface="Aptos"/>
              </a:rPr>
              <a:t>Kannada, Hindi, English and mixed speech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20C2F-AE49-4B6D-B48A-F5D6E37B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895350"/>
            <a:ext cx="1981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6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39043-2574-43FA-8E51-7DB9190A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8953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AB784-AF6D-41C7-B3A7-99EA588B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0287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AA7F1-AD53-430E-A9CA-8037AE99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38112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DCEB"/>
                </a:solidFill>
                <a:latin typeface="Aptos"/>
                <a:ea typeface="Aptos"/>
                <a:cs typeface="Aptos"/>
              </a:rPr>
              <a:t>confidence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97AF9-0A22-4930-B9AA-4DD165ED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97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2B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2B2"/>
                </a:solidFill>
                <a:latin typeface="Aptos"/>
                <a:ea typeface="Aptos"/>
                <a:cs typeface="Aptos"/>
              </a:rPr>
              <a:t>below threshold, the AI clarifies instead of routing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AD48D-3F51-4468-BF89-B447DB9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4267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6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04572-E55E-4876-B510-9FA52868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4DE2F-D8CA-4E7A-8B2C-457E5C94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860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CRITICAL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1B494-9E46-4196-B374-46F29D1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38425"/>
            <a:ext cx="394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DCEB"/>
                </a:solidFill>
                <a:latin typeface="Aptos"/>
                <a:ea typeface="Aptos"/>
                <a:cs typeface="Aptos"/>
              </a:rPr>
              <a:t>bypass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8A354-BE38-41F7-A1CF-691B7196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67025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2B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2B2"/>
                </a:solidFill>
                <a:latin typeface="Aptos"/>
                <a:ea typeface="Aptos"/>
                <a:cs typeface="Aptos"/>
              </a:rPr>
              <a:t>panic/urgent calls go straight to human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0BF42-583F-4862-8836-4CB21DD9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citizen speaks naturally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C21EC-8724-435A-AB9F-E713AB64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769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D6C80-F241-4FC9-B5AD-1EE1ED59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19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779AB-EF92-4018-8E0F-3775FC75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721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verifies 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65D6E-59C4-41CE-AEEA-35D9356F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769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7D933-EEA3-4B36-8DDC-895C9D1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819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3A456-FDED-49EF-AE88-5F17CCE1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7215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operator receives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C177DD-A390-4AD3-9616-3AAB399D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87692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A13096-3962-45C5-9870-6D30A95A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19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18E67-DDEC-48F6-8567-0DBB468E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7721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right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CDFA1D-4502-4EDD-B1B7-A5794E30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repo evidence: VANI-1092-PLAN.md, conversation_engine.py, agent.py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194A8A-4DB2-4934-AF5D-B4BB8CD3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36752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E734D-6F4C-448C-81DD-5620C3D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blem depth-marker">
            <a:extLst xmlns:a="http://schemas.openxmlformats.org/drawingml/2006/main">
              <a:ext uri="{FF2B5EF4-FFF2-40B4-BE49-F238E27FC236}">
                <a16:creationId xmlns:a16="http://schemas.microsoft.com/office/drawing/2014/main" id="{6767BB78-1CCB-4737-BC9C-226B7007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blem depth-label">
            <a:extLst xmlns:a="http://schemas.openxmlformats.org/drawingml/2006/main">
              <a:ext uri="{FF2B5EF4-FFF2-40B4-BE49-F238E27FC236}">
                <a16:creationId xmlns:a16="http://schemas.microsoft.com/office/drawing/2014/main" id="{53D8A6DA-5A95-4506-84AB-3E41943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A5B0F-60EE-45D0-8FFA-42DBFBD4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382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The expensive failure is not no response.</a:t>
            </a:r>
          </a:p>
          <a:p xmlns:a="http://schemas.openxmlformats.org/drawingml/2006/main">
            <a:pPr algn="l">
              <a:def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It is the wrong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D7815-C2DA-483C-B50D-307F75B2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581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455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556"/>
                </a:solidFill>
                <a:latin typeface="Aptos"/>
                <a:ea typeface="Aptos"/>
                <a:cs typeface="Aptos"/>
              </a:rPr>
              <a:t>1092 calls are multilingual, dialect-rich, and emotionally charged. If the system hears words but misses meaning, government response can be delayed, misrouted, or escalated incorrectly.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CEC13-24E4-47BE-9522-61ADC848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09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59BA9-0B8B-4CC4-B8C2-DDED133D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Dialect / code-mix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DCBF2-87D2-475E-9E67-3799700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77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Kannada + Hindi + English can appear inside one sentence.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1AD6C-AD5E-4559-A468-CC272E21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05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CCF7B-3C85-4F92-9852-5B7BA98A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48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FC821-4971-4222-AE89-B3E141EB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4F3B5-1D31-46BB-BA05-2E9CA660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242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Emotion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DAB40-8740-4351-A758-0EA1D173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10000"/>
            <a:ext cx="177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Fear, urgency, anger, and confusion change the required handling.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FF62C-769B-425F-94FE-2A538BCE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05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D2B44-9DAD-4FF1-9D5F-D0AECE8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A2B6A-895E-499F-A232-4E15A67E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98AF4-EC7C-4FC6-8870-A04BEBA0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Misread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81DF1-0DFE-4975-8995-2D44DC3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177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 complaint, help request, harassment, or emergency can be conflated.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001A8-AE8C-4F7A-B1E6-E816A755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052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48798-ABFA-41D6-B00B-FCB09BD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73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7E833-6945-47E4-B859-966F0E85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90900"/>
            <a:ext cx="2076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EE"/>
          </a:solidFill>
          <a:ln xmlns:a="http://schemas.openxmlformats.org/drawingml/2006/main" w="9525">
            <a:solidFill>
              <a:srgbClr val="FFECE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C73ED-859F-49EB-8F38-4355BD03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242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Wrong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4882F-AE9C-4AF6-A7F5-8B070B5C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10000"/>
            <a:ext cx="177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operator acts on a distorted summary, not the citizen's reality.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C60C3-7D86-460A-8382-C106E8E7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197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10172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D0452-CD4F-46E9-95E2-97BC054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768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intervention point is before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8CF0F-D562-49A3-93B7-A3DB12E1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48325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That is why Vani-1092 asks: “Did I understand correctly?”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723CF8-428F-4142-8761-74A6DB4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2B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2B2"/>
                </a:solidFill>
                <a:latin typeface="Aptos"/>
                <a:ea typeface="Aptos"/>
                <a:cs typeface="Aptos"/>
              </a:rPr>
              <a:t>source: user problem statement + VANI-1092-PLAN.md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DFB02-41B2-4A67-8BEB-CAFD272B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2B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A2B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59902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23AED1-0D2E-4FEF-B50A-D04E2ED4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duct thesis-marker">
            <a:extLst xmlns:a="http://schemas.openxmlformats.org/drawingml/2006/main">
              <a:ext uri="{FF2B5EF4-FFF2-40B4-BE49-F238E27FC236}">
                <a16:creationId xmlns:a16="http://schemas.microsoft.com/office/drawing/2014/main" id="{8FB89B63-3B91-4F70-B1DB-1D7A03DB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duct thesis-label">
            <a:extLst xmlns:a="http://schemas.openxmlformats.org/drawingml/2006/main">
              <a:ext uri="{FF2B5EF4-FFF2-40B4-BE49-F238E27FC236}">
                <a16:creationId xmlns:a16="http://schemas.microsoft.com/office/drawing/2014/main" id="{B7AC40C8-994A-45DF-8441-13A74C4A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C3E2-F5B8-4EC4-8895-7B2C7BD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We built the helpline around</a:t>
            </a:r>
          </a:p>
          <a:p xmlns:a="http://schemas.openxmlformats.org/drawingml/2006/main">
            <a:pPr algn="l">
              <a:def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a yes/no moment.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0F581-C26B-4365-8BD2-5714FCCD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455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D4556"/>
                </a:solidFill>
                <a:latin typeface="Aptos"/>
                <a:ea typeface="Aptos"/>
                <a:cs typeface="Aptos"/>
              </a:rPr>
              <a:t>Most voice agents optimize answer speed. Vani-1092 optimizes correctness before action, with a deliberate escape hatch for danger.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59710-CC48-4F2A-B81C-638E912B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33675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19050">
            <a:solidFill>
              <a:srgbClr val="D8D1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BF4E1-9FB1-402F-B43E-32A676E1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43300"/>
            <a:ext cx="1581150" cy="1581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E7C72-D240-4D97-92D4-00050DBA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38600"/>
            <a:ext cx="1371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96BDE-3B0C-4110-ABD2-83EA7605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790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1986D-B862-4E49-9472-9223B72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Listen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EDDB0-4637-4CB6-9A35-478F2F31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LiveKit audio 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B331C-A8B1-42A7-8A95-C5277699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62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F6D06-9B25-4541-9A39-F4089504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05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77237-9113-42FD-BF99-B2FE94F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57450"/>
            <a:ext cx="2400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D0AD8-5DF9-4B1D-84D0-FDD2047E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90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89E39-C2A5-4B8E-A559-E8252374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765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intent, urgency, location,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269E1-8205-44C8-BADE-5AE0962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38500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4C194-0750-4ED4-98BF-156A1614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81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EE318-32C0-4443-BA08-C675BDDB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FF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19B5A-A2DE-4D0E-88EB-3F32D08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66C8C-1CAC-49DD-A762-8BAC727C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same-language summary 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FBBAA-0379-40FE-B01E-FCA5977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72577-1734-4ABF-954D-5C28AA32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074A3-BFFF-4908-ADF9-24747F4A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2266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E9F7E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9982F-D654-408E-AFF1-A45FB6D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482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FE2DAE-6F6D-4E0C-9193-B92B841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339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handoff payload to operator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B88DC-C89C-4EC3-852F-884206C6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82CB3-812D-48E3-9F71-5682C97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A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85E40-FDE8-4365-B73B-99EC987A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245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0"/>
          </a:solidFill>
          <a:ln xmlns:a="http://schemas.openxmlformats.org/drawingml/2006/main" w="9525">
            <a:solidFill>
              <a:srgbClr val="F8F6F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AB81E0-BF92-4B22-B1D0-E0B0D896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5785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Re-ask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E15612-ECF0-4710-8B94-B73B4AC9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436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if citizen says no or confidence is 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A71EC-F457-48F8-B65E-079B4D8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8293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1345B9-4F7E-457F-9032-3F51C42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721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8EACDD-FF42-4D14-A616-927B2364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76650"/>
            <a:ext cx="369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B3DA20-7EBF-4AF9-B0D0-577E1A59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5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354A"/>
                </a:solidFill>
                <a:latin typeface="Aptos"/>
                <a:ea typeface="Aptos"/>
                <a:cs typeface="Aptos"/>
              </a:rPr>
              <a:t>CRITICAL bypass: immediate human takeover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24AD5E-5F7B-4A19-B283-CF64239C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repo evidence: conversation_engine.py should_bypass_confirmation + check_confirmation_response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A83D4F-0220-4BE1-98A7-E421E254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249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A259B-9476-4463-93C6-339AA500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Technical implementation-marker">
            <a:extLst xmlns:a="http://schemas.openxmlformats.org/drawingml/2006/main">
              <a:ext uri="{FF2B5EF4-FFF2-40B4-BE49-F238E27FC236}">
                <a16:creationId xmlns:a16="http://schemas.microsoft.com/office/drawing/2014/main" id="{298EDBEF-C5FF-4426-BD07-D6B1C201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Technical implementation-label">
            <a:extLst xmlns:a="http://schemas.openxmlformats.org/drawingml/2006/main">
              <a:ext uri="{FF2B5EF4-FFF2-40B4-BE49-F238E27FC236}">
                <a16:creationId xmlns:a16="http://schemas.microsoft.com/office/drawing/2014/main" id="{A917D8CD-60CF-4864-B7A7-39EEDD76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0E8"/>
                </a:solidFill>
                <a:latin typeface="Aptos"/>
                <a:ea typeface="Aptos"/>
                <a:cs typeface="Aptos"/>
              </a:rPr>
              <a:t>TECHNICAL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47FF8-A54F-4611-8528-DFB60AB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prototype is a real voice path, not a staged chatbot.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EF47D-F853-4B56-8839-C2D1FE1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CEB"/>
                </a:solidFill>
                <a:latin typeface="Aptos"/>
                <a:ea typeface="Aptos"/>
                <a:cs typeface="Aptos"/>
              </a:rPr>
              <a:t>The stack separates what should be commodity infrastructure from what is unique to 1092: verified understanding, urgency, and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69D5F-EF95-405C-8DC7-4C25F3A2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866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6102C-DDB5-47C5-A1D4-3C6AF02E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Citizen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F5742-0186-4E5C-A402-A19C1F1B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static/index.html</a:t>
            </a:r>
          </a:p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microphone + LiveKit 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0DCF4-1618-4625-9F36-37FA15B1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480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7133E-50E4-4121-80B7-D3B303A5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90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58BF1-2C70-4FB5-ABD4-BAF86C6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1952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E3537-2120-446B-A5EE-97B97193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LiveKit WebRTC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081A9-49B5-491E-81EF-CE0925E4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16478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echo cancellation</a:t>
            </a:r>
          </a:p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noise suppression</a:t>
            </a:r>
          </a:p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jitter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67ECA-5C72-48BC-9655-E936814B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480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A4242-9502-44DD-BD35-35981EBF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FB90A-CC74-49ED-ABF0-5B02E215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1952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C0841-3E5D-43CC-A44E-6FB7E76B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Voice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DC1B3-C9E7-4CDA-B3F8-DB01AF3E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16478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agent.py</a:t>
            </a:r>
          </a:p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STT -&gt; analysis -&gt; TTS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0C711-355F-4EED-B579-B3C3104A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480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22396-F596-475F-A0F4-D2FD151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90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77174-6317-4E54-95BA-C5713EF5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2209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F9C48F-A342-4A39-A3F4-215E993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575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Operator console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AD072-946E-4383-BA19-25DD0D47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43250"/>
            <a:ext cx="190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dashboard.html</a:t>
            </a:r>
          </a:p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summary + queue +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24572-CD28-482C-9732-195F1A39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7700"/>
            <a:ext cx="4400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8A558-8A58-4F15-BC85-8E29D3FF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48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1092-specific brain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3F91FB-13CD-4CC9-ADCB-8D7E99B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CEB"/>
                </a:solidFill>
                <a:latin typeface="Aptos"/>
                <a:ea typeface="Aptos"/>
                <a:cs typeface="Aptos"/>
              </a:rPr>
              <a:t>conversation_engine.py extracts intent, urgency, location, language hint, emotion, confidence, and recommended action.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D0001-0602-4053-93DE-CE40F7F8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285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505135-7675-4234-9F8F-D31C20AD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repo evidence: ARCHITECTURE.md, agent.py, sarvam_client.py, audio_utils.py, server.py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95FFC-497D-491F-972B-1EB33E0C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94240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B6D347-5320-457C-9CB4-3C125A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Demo evidence-marker">
            <a:extLst xmlns:a="http://schemas.openxmlformats.org/drawingml/2006/main">
              <a:ext uri="{FF2B5EF4-FFF2-40B4-BE49-F238E27FC236}">
                <a16:creationId xmlns:a16="http://schemas.microsoft.com/office/drawing/2014/main" id="{07F7460E-8BC9-45DD-A8BF-8B136AE6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emo evidence-label">
            <a:extLst xmlns:a="http://schemas.openxmlformats.org/drawingml/2006/main">
              <a:ext uri="{FF2B5EF4-FFF2-40B4-BE49-F238E27FC236}">
                <a16:creationId xmlns:a16="http://schemas.microsoft.com/office/drawing/2014/main" id="{5BC82B54-2E37-4F1E-82B9-8F440219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DEMO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28E6A-0275-446B-A6D7-2A212191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The demo shows a citizen surface and an operator control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A6C01-BF12-4B1F-A0FA-0E32ACA6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55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D4556"/>
                </a:solidFill>
                <a:latin typeface="Aptos"/>
                <a:ea typeface="Aptos"/>
                <a:cs typeface="Aptos"/>
              </a:rPr>
              <a:t>The important demo is not a perfect AI monologue. It is the transfer of verified context from a natural voice call into a human-operated queue.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02693a5504a65"/>
          <a:srcRect xmlns:a="http://schemas.openxmlformats.org/drawingml/2006/main" l="0" t="22" r="0" b="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457450"/>
            <a:ext cx="4895850" cy="2752725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3743fe8fb410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2266950"/>
            <a:ext cx="5772150" cy="32480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388D7-69C0-4F8D-8662-6CB23609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4895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46DD0-E0A3-423F-9C4E-7525F6AE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Citizen: speaks naturally in Kannada, Hindi, English, or mixed speech.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BF913-7121-449C-8AF2-833F4F0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62600"/>
            <a:ext cx="577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A9441-E899-4682-A00E-0BF8DDDD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43575"/>
            <a:ext cx="535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Operator: sees urgency, language, confidence, summary, transcript, and feedback controls.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CB11F-C381-4C51-829C-D7CE9F96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repo assets: vani1092/.qa/client-redesign.png and dashboard-redesign.png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8D623-9DCD-4C23-B8C9-B2D06F1B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3071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5B5C7-D76E-447B-8E57-22DE4B82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Guardrails-marker">
            <a:extLst xmlns:a="http://schemas.openxmlformats.org/drawingml/2006/main">
              <a:ext uri="{FF2B5EF4-FFF2-40B4-BE49-F238E27FC236}">
                <a16:creationId xmlns:a16="http://schemas.microsoft.com/office/drawing/2014/main" id="{FEB3A937-7418-4192-99E6-E4A4D287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Guardrails-label">
            <a:extLst xmlns:a="http://schemas.openxmlformats.org/drawingml/2006/main">
              <a:ext uri="{FF2B5EF4-FFF2-40B4-BE49-F238E27FC236}">
                <a16:creationId xmlns:a16="http://schemas.microsoft.com/office/drawing/2014/main" id="{761EE55B-331E-4745-8E47-06CB111D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F6C15-5862-401F-9E06-FBB4DD55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52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The AI does not own the call. It earns the next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3B1CC-8FD3-4581-9DA7-FB5B0129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55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D4556"/>
                </a:solidFill>
                <a:latin typeface="Aptos"/>
                <a:ea typeface="Aptos"/>
                <a:cs typeface="Aptos"/>
              </a:rPr>
              <a:t>Vani-1092 uses confidence, confirmation, and urgency to decide whether it should ask, route, or get out of the 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22978-B8C1-4096-B651-F9F4BF8A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A80A7-4B3C-4113-A1B5-93A2C160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75425-1116-42C3-8D8F-EE696EC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622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6EA87-EDA6-410A-ACE3-F7084D6E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62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A0E2D-FBAB-4955-82A3-E2F4CC10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5C8A2-4C08-4232-956D-3EB15E8B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B7176-6988-4A11-94D5-15ECAC2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A32D3-29EC-46FB-B61F-F3382C38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LOW / MEDIUM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7A208-F6FB-4231-8528-DEDE2AA8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confidence &gt;= 0.80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8A80F-C003-464D-8CA5-F69F81E5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480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1"/>
          </a:solidFill>
          <a:ln xmlns:a="http://schemas.openxmlformats.org/drawingml/2006/main" w="0">
            <a:solidFill>
              <a:srgbClr val="138A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243A3-BFF6-43BC-BAFC-C8D8B735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1883E-D150-4240-B481-B3893E92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194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Citizen explicitly validates understanding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5C454-FA9B-4B21-812E-79C1FE8F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2EB41-4740-4DDD-BA91-E9AD4315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3F46A-3091-4164-A31A-2F371A99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LOW / MEDIUM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3E98C-F8EE-4828-896D-E2669929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62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confidence &lt; 0.80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3517F-726B-450F-A6FE-38E93E1D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338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F4A5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75BC8-0C7D-436C-A653-3606382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909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Clarify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0AEDA-AC85-4F5D-AF6B-90644C9D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AI asks the citizen to repeat or simplify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BC47C-03F3-44C5-AD0D-9E536E5F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D73B1-1E7C-452D-B306-92A0BB71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A4942A-066E-42B4-B209-B167EA29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NO / correction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706BF-3B0E-4C0D-8557-6A1C0322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482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any confidence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1D17F-DBD4-4F6A-8874-9E51536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196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2337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C11596-F656-40DD-B75E-1A3798FF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767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Re-ask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29416A-E2D3-442A-8DBB-63D08116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910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Previous understanding is discarded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D48317-1601-4D1F-B45C-77DA9CC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EECB51-9CD2-46A0-B875-66F49C67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5D376B-D169-4358-8260-304A7FF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A4E1A0-6B39-4562-A644-C4B51F98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34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panic or danger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ED4FB4-C446-42E9-94D7-8FF1AE6E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054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4A"/>
          </a:solidFill>
          <a:ln xmlns:a="http://schemas.openxmlformats.org/drawingml/2006/main" w="0">
            <a:solidFill>
              <a:srgbClr val="C7354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80AE12-1642-4E7C-9056-9B87213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625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Bypass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486F9A-3D4F-48DB-A03C-25882725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768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054"/>
                </a:solidFill>
                <a:latin typeface="Aptos"/>
                <a:ea typeface="Aptos"/>
                <a:cs typeface="Aptos"/>
              </a:rPr>
              <a:t>Human takeover immediately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DEDCDE-6C1E-4781-B3F1-29609C6A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repo evidence: CONFIDENCE_THRESHOLD=0.80, PANIC_KEYWORDS, process_turn state machine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303869-7B7C-4B3F-86FD-C90D028D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06372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442435-244E-4E74-9DC3-E458598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earning loop-marker">
            <a:extLst xmlns:a="http://schemas.openxmlformats.org/drawingml/2006/main">
              <a:ext uri="{FF2B5EF4-FFF2-40B4-BE49-F238E27FC236}">
                <a16:creationId xmlns:a16="http://schemas.microsoft.com/office/drawing/2014/main" id="{DF8F41D8-A21B-4C9E-88DF-7321D12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earning loop-label">
            <a:extLst xmlns:a="http://schemas.openxmlformats.org/drawingml/2006/main">
              <a:ext uri="{FF2B5EF4-FFF2-40B4-BE49-F238E27FC236}">
                <a16:creationId xmlns:a16="http://schemas.microsoft.com/office/drawing/2014/main" id="{D7C4B422-72B4-44B3-BA72-EE9FB5E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0E8"/>
                </a:solidFill>
                <a:latin typeface="Aptos"/>
                <a:ea typeface="Aptos"/>
                <a:cs typeface="Aptos"/>
              </a:rPr>
              <a:t>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25486-2400-4544-B8B6-32FE6F90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verified call can become a better future 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D9E97-D53A-4F4E-86DB-8BFA6215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CEB"/>
                </a:solidFill>
                <a:latin typeface="Aptos"/>
                <a:ea typeface="Aptos"/>
                <a:cs typeface="Aptos"/>
              </a:rPr>
              <a:t>The system captures confirmation and operator correction as structured feedback. That is the seed of a Kannada/Hindi/English 1092 dataset grounded in real service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5A888-2F31-4036-AA74-8ECCE685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B5FC1-BF3C-4534-9DFA-7E882E00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Citizen phrase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9E13F-2D7F-4D5E-9DE8-E04CFAB8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695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dialect, code-mix, emotion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EE07A-72F9-4985-95A4-8AB3FFCD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86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9A9D1-E776-46F0-B332-22AC66A5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ABAE5-773A-4F75-B366-DB58B1CF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2895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1ACB3-10D9-4E60-B6CE-10A48A2E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AI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95C2B-B54E-4024-A736-7FDE13C5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480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intent, urgency, summary,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0BB05-8E02-47E3-B4B9-73A9D8E5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B6C48-B6C6-463B-B15E-95191DA7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8CB85-6A99-4046-A987-7117CEAA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03B1F-AD1D-483E-889A-18056E60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Human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A2421-5884-494D-A448-1D2B7937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48050"/>
            <a:ext cx="1885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AI correct / incorrect + notes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7F78E-0303-479E-9290-32646941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61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FDCCB-C6D4-44EB-9A58-28A9E206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290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5AAAF-DA98-4F8D-98AD-60C73E2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28950"/>
            <a:ext cx="1524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19233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CC282-20EC-4292-9267-8064EA39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623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8C3C3-1E2F-445D-B9F1-7858C203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48050"/>
            <a:ext cx="1219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EE4F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EE4F5"/>
                </a:solidFill>
                <a:latin typeface="Aptos"/>
                <a:ea typeface="Aptos"/>
                <a:cs typeface="Aptos"/>
              </a:rPr>
              <a:t>validated examples for tuning, prompts,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5C464-4E65-4E2C-9573-F7CCFDB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05375"/>
            <a:ext cx="769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24367-48F3-485D-ACBA-2B7F8D58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data is valuable because it is confirmed meaning, not just raw speech.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D4881-14E7-481F-810F-239013A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repo evidence: database.py feedback table + server.py /api/calls/{id}/feedback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2EB936-CBE4-45E4-81D3-6DAA7905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9003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D2F56-4E78-425D-AD8E-E583F69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Government feasibility-marker">
            <a:extLst xmlns:a="http://schemas.openxmlformats.org/drawingml/2006/main">
              <a:ext uri="{FF2B5EF4-FFF2-40B4-BE49-F238E27FC236}">
                <a16:creationId xmlns:a16="http://schemas.microsoft.com/office/drawing/2014/main" id="{DBEDF697-E015-487D-9C65-BDDB51AA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Government feasibility-label">
            <a:extLst xmlns:a="http://schemas.openxmlformats.org/drawingml/2006/main">
              <a:ext uri="{FF2B5EF4-FFF2-40B4-BE49-F238E27FC236}">
                <a16:creationId xmlns:a16="http://schemas.microsoft.com/office/drawing/2014/main" id="{6B95649A-7636-458D-B8E6-9990FF81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GOVERNMENT FEASIBILITY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7659F-642F-4766-93B3-4593AB56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Deployability comes from boring choices in the right places.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A1774-ADAF-4D54-B5F0-A269FA31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55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D4556"/>
                </a:solidFill>
                <a:latin typeface="Aptos"/>
                <a:ea typeface="Aptos"/>
                <a:cs typeface="Aptos"/>
              </a:rPr>
              <a:t>The ambition is high, but the deployment path is intentionally practical: browser client, Python service, human operator control, database audit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759DB-BC77-48FA-9874-EBAEEA1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190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1D74B-FA6D-4135-8072-1946D005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D2602-DDE5-4CF4-8175-803D1815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Hackathon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56F25-A400-4AC8-95C8-69A2A8FC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FastAPI + LiveKit Cloud + SQLite</a:t>
            </a:r>
          </a:p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runs on local laptop / external drive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142A1-DD89-437D-A171-F290179C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BEA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8BE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A35CD-5932-4BBF-AE38-0852362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2190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42338-6F38-4FFE-954D-8DEAAB0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062E6-2FFA-4F5C-93EB-8A76912F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718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Pilot room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A2B2BE-018B-4F93-8B5E-321F8442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PostgreSQL + operator accounts</a:t>
            </a:r>
          </a:p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measured latency, accuracy, takeover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12BE1-73B9-4408-8CC3-7685E7BE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339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BEA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8BE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46813-9E5B-4C5C-8856-44585D8E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1907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B875C-9149-4983-ACB7-938DEA55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CF1D3-7485-49C0-8E05-F1CE31A6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State deployment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EAAA6-F436-45A4-9869-FD568CC2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State Data Centre / approved cloud</a:t>
            </a:r>
          </a:p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role-based access + audit retention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FB4B5-81F6-4AEA-9C83-C3DA88F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911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BEA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8BE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D516C-D433-4055-8D9B-F699D537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1907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9525">
            <a:solidFill>
              <a:srgbClr val="D8D1C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CBE35-9BB1-42FC-AB18-CC793FF1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D0D44-364E-46F3-96F8-D4DB8282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289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Citizen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6DF00-74ED-4B8B-B9E4-7F7A89F2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1847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Reusable multilingual voice assistance</a:t>
            </a:r>
          </a:p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across departments and helplines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94C21-F53F-4A24-A006-FA14ED5C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BEA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C8BE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95369-D049-479B-83A5-417B1D9F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Prototype cost in repo plan: within free credits / about ₹0-200 for demonstration scale.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A46B8D-AAB0-4671-8C47-4841AE9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repo evidence: stack choices and prototype cost from VANI-1092-PLAN.md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175ED-9742-4CEE-B2A0-A9A69664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02191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3AF565-FC71-404B-A603-6570523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ong-term impact-marker">
            <a:extLst xmlns:a="http://schemas.openxmlformats.org/drawingml/2006/main">
              <a:ext uri="{FF2B5EF4-FFF2-40B4-BE49-F238E27FC236}">
                <a16:creationId xmlns:a16="http://schemas.microsoft.com/office/drawing/2014/main" id="{41962CD1-D838-4233-8DAB-3FC6DBBF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ong-term impact-label">
            <a:extLst xmlns:a="http://schemas.openxmlformats.org/drawingml/2006/main">
              <a:ext uri="{FF2B5EF4-FFF2-40B4-BE49-F238E27FC236}">
                <a16:creationId xmlns:a16="http://schemas.microsoft.com/office/drawing/2014/main" id="{E55BE353-CB98-48B0-AA04-6F343FCD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LONG-TERM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707D9-19AC-4085-9D3D-5EB4E4FB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8"/>
                </a:solidFill>
                <a:latin typeface="Aptos Display"/>
                <a:ea typeface="Aptos Display"/>
                <a:cs typeface="Aptos Display"/>
              </a:rPr>
              <a:t>The scale story is a reusable citizen-voice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D141D-B2ED-4ECD-8075-0ED10A6D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D455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D4556"/>
                </a:solidFill>
                <a:latin typeface="Aptos"/>
                <a:ea typeface="Aptos"/>
                <a:cs typeface="Aptos"/>
              </a:rPr>
              <a:t>Once verified understanding works for 1092, the same pattern can support other services where wrong interpretation creates cost, delay, or harm.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8863D-6620-4DFF-94E6-4860C86F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D67A9-F2C4-426D-9FEF-5617C94A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1092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672FD-71A6-4CFB-8CB1-D9A8E3DC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076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harassment, complaints, help requests, emergencies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65DBD-B297-4858-9BD3-CCA46597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44A12-2E55-4B37-B048-562972B0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813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37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5208F-C381-4D60-8088-7D1A2581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D5981-85CA-44EA-AC42-B0A5A20B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More languages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21595-C5AF-4FFE-A2ED-AFF64D53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076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add other Indian languages without changing the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0BDDD-67A6-46BA-9598-F239771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BDFCC-0919-4FAC-8DCE-ED9194F2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5DF10-298C-454A-A9A8-524A172B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E9F7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9DDB2-3BCB-4DCA-9D1B-F2B4DD55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7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728"/>
                </a:solidFill>
                <a:latin typeface="Aptos"/>
                <a:ea typeface="Aptos"/>
                <a:cs typeface="Aptos"/>
              </a:rPr>
              <a:t>More departments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46F3D-B900-484B-937C-5635ED5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2076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health, transport, municipal, welfare, disaster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F6A2B-C2FD-4209-9C01-EFF29CE1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98EDC-77D8-4F9C-B016-086111F9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662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Third-order effect: a state learns how citizens actually describe problems, not how forms assume they describe them.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0A07A-A5A9-45A5-99AB-98AEABB9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543550"/>
            <a:ext cx="617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That can improve scripts, staffing, routing policy, language resources, and early warning analytics.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DB020-7520-4CE2-8E37-0C9F47F2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source: inferred scale path from language-agnostic architecture and feedback loop in repo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9E856-BA50-40B5-88FB-561841A6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44983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880D62-C049-4171-899C-BBC0930D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Why this scores-marker">
            <a:extLst xmlns:a="http://schemas.openxmlformats.org/drawingml/2006/main">
              <a:ext uri="{FF2B5EF4-FFF2-40B4-BE49-F238E27FC236}">
                <a16:creationId xmlns:a16="http://schemas.microsoft.com/office/drawing/2014/main" id="{E6576874-4F8E-4495-92A5-17AF5C5E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Why this scores-label">
            <a:extLst xmlns:a="http://schemas.openxmlformats.org/drawingml/2006/main">
              <a:ext uri="{FF2B5EF4-FFF2-40B4-BE49-F238E27FC236}">
                <a16:creationId xmlns:a16="http://schemas.microsoft.com/office/drawing/2014/main" id="{B44D1F53-EC86-4597-BBAC-99A947BD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0E8"/>
                </a:solidFill>
                <a:latin typeface="Aptos"/>
                <a:ea typeface="Aptos"/>
                <a:cs typeface="Aptos"/>
              </a:rPr>
              <a:t>WHY THIS SCORES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6E712-3FEB-47CB-B9A9-76179C1F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pitch is not feature count.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It is trust at government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FE5F0-8D95-4566-BEB5-8E16AC9B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C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DCEB"/>
                </a:solidFill>
                <a:latin typeface="Aptos"/>
                <a:ea typeface="Aptos"/>
                <a:cs typeface="Aptos"/>
              </a:rPr>
              <a:t>Vani-1092 answers the judging rubric with one coherent product decision: verified understanding before action, with human control preserved.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727D5-9D71-4E2E-A760-D7231DF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F58AB-264F-4CDA-918C-DD9555E6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rPr>
              <a:t>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46F1A-4EAE-4257-BF31-9E6F9DA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relevance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66CFA-4897-488B-A4A2-5F206EE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037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0E8"/>
                </a:solidFill>
                <a:latin typeface="Aptos"/>
                <a:ea typeface="Aptos"/>
                <a:cs typeface="Aptos"/>
              </a:rPr>
              <a:t>Targets the real failure: misunderstood multilingual distress.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CADF7-9FA9-45C3-A975-A65649F4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20EC0-95F1-4E01-A258-39C6FBBC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rPr>
              <a:t>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D8524-35FC-4EAF-BB74-D66104A9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671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Technical + innovation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D3594-1C76-4FB9-AB86-F0C5E5EE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6712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0E8"/>
                </a:solidFill>
                <a:latin typeface="Aptos"/>
                <a:ea typeface="Aptos"/>
                <a:cs typeface="Aptos"/>
              </a:rPr>
              <a:t>Real voice pipeline, confirmation state machine, emotion/urgency payload.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DC7C9-E339-4D81-99AB-E5FBA97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E2D88-4A4C-4D4E-AE38-5169050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rPr>
              <a:t>25%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0B8F6-1C0E-44CF-95C2-06161594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43049-C4CF-4BDE-B63A-2E820CA7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3387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0E8"/>
                </a:solidFill>
                <a:latin typeface="Aptos"/>
                <a:ea typeface="Aptos"/>
                <a:cs typeface="Aptos"/>
              </a:rPr>
              <a:t>FastAPI, LiveKit, Sarvam, SQLite audit trail, human operator console.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ECAF3-2A7F-4C44-BCF6-C33BA4B9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2440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56FB6-720F-4C0C-BA22-C7669E9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rPr>
              <a:t>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6B63E-0918-4461-AF33-128AC705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006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0EF00-C934-40B5-962B-081C911C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0062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0E8"/>
                </a:solidFill>
                <a:latin typeface="Aptos"/>
                <a:ea typeface="Aptos"/>
                <a:cs typeface="Aptos"/>
              </a:rPr>
              <a:t>Two-window voice demo: citizen call + operator handoff queue.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AC4CD-7BAB-4734-91B3-70C0462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51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D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AEB97-3A3C-44C1-B5E1-2A813B2C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864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A51C"/>
                </a:solidFill>
                <a:latin typeface="Aptos Display"/>
                <a:ea typeface="Aptos Display"/>
                <a:cs typeface="Aptos Display"/>
              </a:rPr>
              <a:t>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C2E2-7A5B-4B82-A276-F80D1C17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673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 + 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19564-8C36-4243-B27D-C34F8C09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67375"/>
            <a:ext cx="325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9D0E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0E8"/>
                </a:solidFill>
                <a:latin typeface="Aptos"/>
                <a:ea typeface="Aptos"/>
                <a:cs typeface="Aptos"/>
              </a:rPr>
              <a:t>Validated feedback can become a reusable citizen-language layer.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B56FB7-B01D-43BD-A668-385B4ECA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5219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A355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8D393-1E4D-4312-B37D-68D759EA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5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51C"/>
                </a:solidFill>
                <a:latin typeface="Aptos"/>
                <a:ea typeface="Aptos"/>
                <a:cs typeface="Aptos"/>
              </a:rPr>
              <a:t>One sentence to remember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C5717-091C-4B1B-91B2-A30D1D26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468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AI is not the decision-maker. It is the understanding-checker.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DC1E15-E207-4389-A5B0-A5A5CAD1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17866"/>
                </a:solidFill>
                <a:latin typeface="Aptos"/>
                <a:ea typeface="Aptos"/>
                <a:cs typeface="Aptos"/>
              </a:rPr>
              <a:t>rubric mapped to repo evidence; no unsupported performance metrics claimed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DCE0B-6B58-4332-96A2-F13D422F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178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1786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1014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2026-05-06T19:33:48.2540000Z</dcterms:created>
  <dcterms:modified xsi:type="dcterms:W3CDTF">2026-05-06T19:33:48.2540000Z</dcterms:modified>
</coreProperties>
</file>